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01" r:id="rId3"/>
    <p:sldId id="257" r:id="rId4"/>
    <p:sldId id="292" r:id="rId5"/>
    <p:sldId id="294" r:id="rId6"/>
    <p:sldId id="299" r:id="rId7"/>
    <p:sldId id="291" r:id="rId8"/>
    <p:sldId id="298" r:id="rId9"/>
    <p:sldId id="297" r:id="rId10"/>
    <p:sldId id="296" r:id="rId11"/>
    <p:sldId id="302" r:id="rId12"/>
    <p:sldId id="29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1E526C-B48F-4022-8D2B-9FBF563FCE33}" v="9" dt="2026-05-15T02:55:14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5063" autoAdjust="0"/>
  </p:normalViewPr>
  <p:slideViewPr>
    <p:cSldViewPr snapToGrid="0">
      <p:cViewPr varScale="1">
        <p:scale>
          <a:sx n="135" d="100"/>
          <a:sy n="135" d="100"/>
        </p:scale>
        <p:origin x="34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us Rochon" userId="485b806b-19aa-4662-bec0-f28ff2ef9e44" providerId="ADAL" clId="{FAF9857D-26D6-4AF5-AD17-BEFAEAB24F94}"/>
    <pc:docChg chg="undo custSel addSld delSld modSld sldOrd">
      <pc:chgData name="Marius Rochon" userId="485b806b-19aa-4662-bec0-f28ff2ef9e44" providerId="ADAL" clId="{FAF9857D-26D6-4AF5-AD17-BEFAEAB24F94}" dt="2026-05-15T15:24:32.299" v="800" actId="20577"/>
      <pc:docMkLst>
        <pc:docMk/>
      </pc:docMkLst>
      <pc:sldChg chg="modSp mod">
        <pc:chgData name="Marius Rochon" userId="485b806b-19aa-4662-bec0-f28ff2ef9e44" providerId="ADAL" clId="{FAF9857D-26D6-4AF5-AD17-BEFAEAB24F94}" dt="2026-05-14T22:03:37.186" v="679" actId="20577"/>
        <pc:sldMkLst>
          <pc:docMk/>
          <pc:sldMk cId="4159091356" sldId="256"/>
        </pc:sldMkLst>
        <pc:spChg chg="mod">
          <ac:chgData name="Marius Rochon" userId="485b806b-19aa-4662-bec0-f28ff2ef9e44" providerId="ADAL" clId="{FAF9857D-26D6-4AF5-AD17-BEFAEAB24F94}" dt="2026-05-12T22:05:57.411" v="205" actId="20577"/>
          <ac:spMkLst>
            <pc:docMk/>
            <pc:sldMk cId="4159091356" sldId="256"/>
            <ac:spMk id="2" creationId="{F3FACB28-09CB-B8F9-7B4D-AD16CC1A4E49}"/>
          </ac:spMkLst>
        </pc:spChg>
        <pc:spChg chg="mod">
          <ac:chgData name="Marius Rochon" userId="485b806b-19aa-4662-bec0-f28ff2ef9e44" providerId="ADAL" clId="{FAF9857D-26D6-4AF5-AD17-BEFAEAB24F94}" dt="2026-05-14T22:03:37.186" v="679" actId="20577"/>
          <ac:spMkLst>
            <pc:docMk/>
            <pc:sldMk cId="4159091356" sldId="256"/>
            <ac:spMk id="3" creationId="{EE5DFD40-EB45-2F10-864A-4D0A250BDE5B}"/>
          </ac:spMkLst>
        </pc:spChg>
      </pc:sldChg>
      <pc:sldChg chg="modSp mod">
        <pc:chgData name="Marius Rochon" userId="485b806b-19aa-4662-bec0-f28ff2ef9e44" providerId="ADAL" clId="{FAF9857D-26D6-4AF5-AD17-BEFAEAB24F94}" dt="2026-05-14T22:07:46.538" v="725" actId="20577"/>
        <pc:sldMkLst>
          <pc:docMk/>
          <pc:sldMk cId="1005219039" sldId="257"/>
        </pc:sldMkLst>
        <pc:spChg chg="mod">
          <ac:chgData name="Marius Rochon" userId="485b806b-19aa-4662-bec0-f28ff2ef9e44" providerId="ADAL" clId="{FAF9857D-26D6-4AF5-AD17-BEFAEAB24F94}" dt="2026-05-14T22:06:59.334" v="700" actId="27636"/>
          <ac:spMkLst>
            <pc:docMk/>
            <pc:sldMk cId="1005219039" sldId="257"/>
            <ac:spMk id="3" creationId="{30CE5C46-B7DA-3152-4003-4799F93E9DF4}"/>
          </ac:spMkLst>
        </pc:spChg>
        <pc:spChg chg="mod">
          <ac:chgData name="Marius Rochon" userId="485b806b-19aa-4662-bec0-f28ff2ef9e44" providerId="ADAL" clId="{FAF9857D-26D6-4AF5-AD17-BEFAEAB24F94}" dt="2026-05-14T22:07:46.538" v="725" actId="20577"/>
          <ac:spMkLst>
            <pc:docMk/>
            <pc:sldMk cId="1005219039" sldId="257"/>
            <ac:spMk id="6" creationId="{2AE27DA5-8F61-2085-AF4D-2A8A7417EA6A}"/>
          </ac:spMkLst>
        </pc:spChg>
      </pc:sldChg>
      <pc:sldChg chg="modSp mod">
        <pc:chgData name="Marius Rochon" userId="485b806b-19aa-4662-bec0-f28ff2ef9e44" providerId="ADAL" clId="{FAF9857D-26D6-4AF5-AD17-BEFAEAB24F94}" dt="2026-05-15T15:24:32.299" v="800" actId="20577"/>
        <pc:sldMkLst>
          <pc:docMk/>
          <pc:sldMk cId="1942992393" sldId="292"/>
        </pc:sldMkLst>
        <pc:spChg chg="mod">
          <ac:chgData name="Marius Rochon" userId="485b806b-19aa-4662-bec0-f28ff2ef9e44" providerId="ADAL" clId="{FAF9857D-26D6-4AF5-AD17-BEFAEAB24F94}" dt="2026-05-12T22:08:03.895" v="237"/>
          <ac:spMkLst>
            <pc:docMk/>
            <pc:sldMk cId="1942992393" sldId="292"/>
            <ac:spMk id="2" creationId="{21864BB8-7AF3-124B-7B3C-535CB2628F98}"/>
          </ac:spMkLst>
        </pc:spChg>
        <pc:spChg chg="mod">
          <ac:chgData name="Marius Rochon" userId="485b806b-19aa-4662-bec0-f28ff2ef9e44" providerId="ADAL" clId="{FAF9857D-26D6-4AF5-AD17-BEFAEAB24F94}" dt="2026-05-15T15:24:32.299" v="800" actId="20577"/>
          <ac:spMkLst>
            <pc:docMk/>
            <pc:sldMk cId="1942992393" sldId="292"/>
            <ac:spMk id="3" creationId="{F35D39E5-7A3E-2F87-6473-7D72245FCAD0}"/>
          </ac:spMkLst>
        </pc:spChg>
      </pc:sldChg>
      <pc:sldChg chg="modSp mod">
        <pc:chgData name="Marius Rochon" userId="485b806b-19aa-4662-bec0-f28ff2ef9e44" providerId="ADAL" clId="{FAF9857D-26D6-4AF5-AD17-BEFAEAB24F94}" dt="2026-05-14T22:10:13.090" v="738" actId="20577"/>
        <pc:sldMkLst>
          <pc:docMk/>
          <pc:sldMk cId="394232561" sldId="294"/>
        </pc:sldMkLst>
        <pc:spChg chg="mod">
          <ac:chgData name="Marius Rochon" userId="485b806b-19aa-4662-bec0-f28ff2ef9e44" providerId="ADAL" clId="{FAF9857D-26D6-4AF5-AD17-BEFAEAB24F94}" dt="2026-05-12T22:10:29.281" v="332" actId="20577"/>
          <ac:spMkLst>
            <pc:docMk/>
            <pc:sldMk cId="394232561" sldId="294"/>
            <ac:spMk id="2" creationId="{8D2D4A8B-ED1B-513F-9D52-A30563B80410}"/>
          </ac:spMkLst>
        </pc:spChg>
        <pc:spChg chg="mod">
          <ac:chgData name="Marius Rochon" userId="485b806b-19aa-4662-bec0-f28ff2ef9e44" providerId="ADAL" clId="{FAF9857D-26D6-4AF5-AD17-BEFAEAB24F94}" dt="2026-05-14T22:10:13.090" v="738" actId="20577"/>
          <ac:spMkLst>
            <pc:docMk/>
            <pc:sldMk cId="394232561" sldId="294"/>
            <ac:spMk id="3" creationId="{6F4006A2-CF8B-5719-04E9-275B1F1BF146}"/>
          </ac:spMkLst>
        </pc:spChg>
      </pc:sldChg>
      <pc:sldChg chg="mod modShow">
        <pc:chgData name="Marius Rochon" userId="485b806b-19aa-4662-bec0-f28ff2ef9e44" providerId="ADAL" clId="{FAF9857D-26D6-4AF5-AD17-BEFAEAB24F94}" dt="2026-05-14T23:08:04.093" v="778" actId="729"/>
        <pc:sldMkLst>
          <pc:docMk/>
          <pc:sldMk cId="161046436" sldId="296"/>
        </pc:sldMkLst>
      </pc:sldChg>
      <pc:sldChg chg="mod modShow">
        <pc:chgData name="Marius Rochon" userId="485b806b-19aa-4662-bec0-f28ff2ef9e44" providerId="ADAL" clId="{FAF9857D-26D6-4AF5-AD17-BEFAEAB24F94}" dt="2026-05-14T23:08:01.185" v="777" actId="729"/>
        <pc:sldMkLst>
          <pc:docMk/>
          <pc:sldMk cId="1228253971" sldId="297"/>
        </pc:sldMkLst>
      </pc:sldChg>
      <pc:sldChg chg="ord">
        <pc:chgData name="Marius Rochon" userId="485b806b-19aa-4662-bec0-f28ff2ef9e44" providerId="ADAL" clId="{FAF9857D-26D6-4AF5-AD17-BEFAEAB24F94}" dt="2026-05-14T23:07:33.721" v="776"/>
        <pc:sldMkLst>
          <pc:docMk/>
          <pc:sldMk cId="3672386209" sldId="298"/>
        </pc:sldMkLst>
      </pc:sldChg>
      <pc:sldChg chg="modSp mod">
        <pc:chgData name="Marius Rochon" userId="485b806b-19aa-4662-bec0-f28ff2ef9e44" providerId="ADAL" clId="{FAF9857D-26D6-4AF5-AD17-BEFAEAB24F94}" dt="2026-05-14T22:12:44.210" v="774" actId="313"/>
        <pc:sldMkLst>
          <pc:docMk/>
          <pc:sldMk cId="708443659" sldId="299"/>
        </pc:sldMkLst>
        <pc:spChg chg="mod">
          <ac:chgData name="Marius Rochon" userId="485b806b-19aa-4662-bec0-f28ff2ef9e44" providerId="ADAL" clId="{FAF9857D-26D6-4AF5-AD17-BEFAEAB24F94}" dt="2026-05-14T22:12:44.210" v="774" actId="313"/>
          <ac:spMkLst>
            <pc:docMk/>
            <pc:sldMk cId="708443659" sldId="299"/>
            <ac:spMk id="3" creationId="{2D027195-DE6A-C25F-C699-789C1DBAFE08}"/>
          </ac:spMkLst>
        </pc:spChg>
      </pc:sldChg>
      <pc:sldChg chg="modSp del mod modShow">
        <pc:chgData name="Marius Rochon" userId="485b806b-19aa-4662-bec0-f28ff2ef9e44" providerId="ADAL" clId="{FAF9857D-26D6-4AF5-AD17-BEFAEAB24F94}" dt="2026-05-14T23:08:09.745" v="779" actId="47"/>
        <pc:sldMkLst>
          <pc:docMk/>
          <pc:sldMk cId="2304038232" sldId="300"/>
        </pc:sldMkLst>
      </pc:sldChg>
      <pc:sldChg chg="addSp delSp modSp new mod ord">
        <pc:chgData name="Marius Rochon" userId="485b806b-19aa-4662-bec0-f28ff2ef9e44" providerId="ADAL" clId="{FAF9857D-26D6-4AF5-AD17-BEFAEAB24F94}" dt="2026-05-13T22:19:11.382" v="498"/>
        <pc:sldMkLst>
          <pc:docMk/>
          <pc:sldMk cId="752720366" sldId="301"/>
        </pc:sldMkLst>
        <pc:graphicFrameChg chg="add mod modGraphic">
          <ac:chgData name="Marius Rochon" userId="485b806b-19aa-4662-bec0-f28ff2ef9e44" providerId="ADAL" clId="{FAF9857D-26D6-4AF5-AD17-BEFAEAB24F94}" dt="2026-05-13T22:19:11.382" v="498"/>
          <ac:graphicFrameMkLst>
            <pc:docMk/>
            <pc:sldMk cId="752720366" sldId="301"/>
            <ac:graphicFrameMk id="4" creationId="{82B7722D-188E-8AC5-46CD-3BE0C6430E60}"/>
          </ac:graphicFrameMkLst>
        </pc:graphicFrameChg>
      </pc:sldChg>
      <pc:sldChg chg="modSp new mod ord">
        <pc:chgData name="Marius Rochon" userId="485b806b-19aa-4662-bec0-f28ff2ef9e44" providerId="ADAL" clId="{FAF9857D-26D6-4AF5-AD17-BEFAEAB24F94}" dt="2026-05-15T03:09:58.389" v="787"/>
        <pc:sldMkLst>
          <pc:docMk/>
          <pc:sldMk cId="2589419458" sldId="302"/>
        </pc:sldMkLst>
        <pc:spChg chg="mod">
          <ac:chgData name="Marius Rochon" userId="485b806b-19aa-4662-bec0-f28ff2ef9e44" providerId="ADAL" clId="{FAF9857D-26D6-4AF5-AD17-BEFAEAB24F94}" dt="2026-05-15T02:55:10.879" v="784" actId="20577"/>
          <ac:spMkLst>
            <pc:docMk/>
            <pc:sldMk cId="2589419458" sldId="302"/>
            <ac:spMk id="2" creationId="{C89B586F-068F-3417-0DB6-67E46FBDE9D3}"/>
          </ac:spMkLst>
        </pc:spChg>
        <pc:spChg chg="mod">
          <ac:chgData name="Marius Rochon" userId="485b806b-19aa-4662-bec0-f28ff2ef9e44" providerId="ADAL" clId="{FAF9857D-26D6-4AF5-AD17-BEFAEAB24F94}" dt="2026-05-15T02:55:14.680" v="785"/>
          <ac:spMkLst>
            <pc:docMk/>
            <pc:sldMk cId="2589419458" sldId="302"/>
            <ac:spMk id="3" creationId="{04150E8A-3D4E-54BE-9658-FD1E610AA6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3CFA2-83B9-4819-BD86-8B64E6E702A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8903B-CAEF-4DFB-AF87-574BD80CC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4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https://learn.microsoft.com/en-us/entra/agent-id/identity-platform/agent-oauth-protocols#oauth-protocols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78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BAAC-D4FA-B394-9189-8AC99D340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8FF73-F709-A7F3-3C56-1C427617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CD40-7F2C-15F1-A383-0DD5826AB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432C6-B437-A4F7-862B-6D0BE01A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5AA3A-AC20-AA33-B1B3-E28F7FAF8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5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B565-C2AA-73E5-232D-B6C3F0AE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FCB18-26AA-ECDC-9701-C24AC4EFE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6F058-0619-E85A-F22E-65B440773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A54CB-5170-AD42-130E-693E296A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FA0D1-EE29-BA4A-E73F-C0DBF193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3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BB5B-E0AC-380C-8FB9-D53B683D8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F194F-44A8-C599-5FF9-F523E699B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28DC0-6AFB-7A71-B59E-1781D7E1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A21E6-75B5-6D8F-026D-6A96DC8D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9BF0E-E5A0-1806-5361-58159BC9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7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C2B85-A786-ABED-FECC-07A00A89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24261-33C5-7E49-C0DA-DEA9A4772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A8155-3A8F-EE28-00CF-B60ADCA59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AD92C-2EA0-9BA5-F99C-6228B3F2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A76ED-F4EF-B87F-9FD8-781B8CE6B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AB797-E3F2-C9D7-A161-3E74E6AB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2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6707-8350-87D8-F94F-EACAC054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DD1EF-1ECA-68F5-B618-0FBEC0F54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4F4C3-BFE9-E5C1-7202-4B1B2D1C6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12B30-791A-BFC8-F358-1FF1E5090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19FF3B-3EB3-4245-F8AB-F566BB1F5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FD347-D9C6-7176-49A2-1B5E3C02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3272B-3A10-C0D8-FB34-A2803025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51D8E0-7B30-64E7-2AAD-8AA3DD23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4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5F54-8B8A-E615-5B5C-B6E43E605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DCDD74-BC7B-A716-ABB1-076839068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179B9-C4BB-9818-2B6E-87B4A97E4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B45B9-C3F1-8ED9-E0B2-52542E60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1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2A603-425D-FB18-2A43-E6D65127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BA68B-C3C0-2A55-9CD2-B9A7794E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E15CA-C4D6-36D9-7FEB-A4B5AC33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22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B2D4-2844-DFDF-1CAD-E6D7C7813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3BA2-05FD-7741-4506-B169AD5D8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4EFF0-9911-40D8-A144-31F49B5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3EA97-8DA3-727B-3453-A4E3B939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1F167-B763-7A44-CB14-EC67E356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B22D0-002E-38B8-16AF-163D13D8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3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7104-5374-63BB-B907-0CE4EE21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AAF49-AE6D-7434-D76C-FA460E984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E3E07-CF41-58BA-C968-29255BBAB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8F079-C756-00F7-8D19-4071B88B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800F9-1670-052A-6F60-934C4CD4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7359B-0BAD-5297-7DB8-66C213D6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4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888F-DD5D-D43E-47DD-A9CF5AD7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44106-4241-58C3-563B-515EE30BE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BA212-8E27-811E-EDC4-FF7285CA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8787F-2ACA-8713-AB35-C23B66B9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E2D20-4E2C-B553-76A9-5F89A2B4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28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965FE4-F3F9-4262-91D3-C2220D20B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9374-4BB1-D478-1A99-DBFB1E209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D43A2-4693-4677-E28E-CE2B58D6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76B5F-9B5F-720D-DAF4-7EDBF2C18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0A8BE-3221-6747-8136-8E6EEA7F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58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122271-7E56-5A90-E284-AE47753EC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62BA8-7533-49A6-5F11-DD88D149A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701A3-085D-B830-6305-B324CAC40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E656F-4B27-46D0-A4CF-C1DFF6C4AF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80FD6-D68F-29C4-3ED5-499997652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3A5AE-EF62-FDA3-5326-43EF88A0E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FF036-AD1D-4359-B399-ED56CD95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6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operation-web-igzu6xvzldpys.azurewebsites.net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entra-agentid-samples" TargetMode="External"/><Relationship Id="rId2" Type="http://schemas.openxmlformats.org/officeDocument/2006/relationships/hyperlink" Target="https://github.com/microsoft/Agent365-samp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rochon/AgentIDSamp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CB28-09CB-B8F9-7B4D-AD16CC1A4E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Short intro to Entra Agent 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DFD40-EB45-2F10-864A-4D0A250BD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Marius Rochon</a:t>
            </a:r>
          </a:p>
        </p:txBody>
      </p:sp>
    </p:spTree>
    <p:extLst>
      <p:ext uri="{BB962C8B-B14F-4D97-AF65-F5344CB8AC3E}">
        <p14:creationId xmlns:p14="http://schemas.microsoft.com/office/powerpoint/2010/main" val="4159091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E6E8-0F27-127E-D510-4549C83C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B7722D-188E-8AC5-46CD-3BE0C6430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728117"/>
              </p:ext>
            </p:extLst>
          </p:nvPr>
        </p:nvGraphicFramePr>
        <p:xfrm>
          <a:off x="829340" y="184297"/>
          <a:ext cx="10738883" cy="6542564"/>
        </p:xfrm>
        <a:graphic>
          <a:graphicData uri="http://schemas.openxmlformats.org/drawingml/2006/table">
            <a:tbl>
              <a:tblPr/>
              <a:tblGrid>
                <a:gridCol w="1732570">
                  <a:extLst>
                    <a:ext uri="{9D8B030D-6E8A-4147-A177-3AD203B41FA5}">
                      <a16:colId xmlns:a16="http://schemas.microsoft.com/office/drawing/2014/main" val="1163895211"/>
                    </a:ext>
                  </a:extLst>
                </a:gridCol>
                <a:gridCol w="2480552">
                  <a:extLst>
                    <a:ext uri="{9D8B030D-6E8A-4147-A177-3AD203B41FA5}">
                      <a16:colId xmlns:a16="http://schemas.microsoft.com/office/drawing/2014/main" val="3573368154"/>
                    </a:ext>
                  </a:extLst>
                </a:gridCol>
                <a:gridCol w="3867496">
                  <a:extLst>
                    <a:ext uri="{9D8B030D-6E8A-4147-A177-3AD203B41FA5}">
                      <a16:colId xmlns:a16="http://schemas.microsoft.com/office/drawing/2014/main" val="2948722022"/>
                    </a:ext>
                  </a:extLst>
                </a:gridCol>
                <a:gridCol w="2658265">
                  <a:extLst>
                    <a:ext uri="{9D8B030D-6E8A-4147-A177-3AD203B41FA5}">
                      <a16:colId xmlns:a16="http://schemas.microsoft.com/office/drawing/2014/main" val="4161863386"/>
                    </a:ext>
                  </a:extLst>
                </a:gridCol>
              </a:tblGrid>
              <a:tr h="386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OWASP Agentic Threat</a:t>
                      </a: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How Entra Agent ID Helps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Specific Agent ID / Entra Features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Coverage Assessment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240972"/>
                  </a:ext>
                </a:extLst>
              </a:tr>
              <a:tr h="787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1. Prompt Injection</a:t>
                      </a:r>
                      <a:endParaRPr lang="en-US" sz="1200" dirty="0">
                        <a:effectLst/>
                      </a:endParaRP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Does not prevent injection</a:t>
                      </a:r>
                      <a:r>
                        <a:rPr lang="en-US" sz="1200" dirty="0">
                          <a:effectLst/>
                        </a:rPr>
                        <a:t>, but can </a:t>
                      </a:r>
                      <a:r>
                        <a:rPr lang="en-US" sz="1200" b="1" dirty="0">
                          <a:effectLst/>
                        </a:rPr>
                        <a:t>limit blast radius</a:t>
                      </a:r>
                      <a:r>
                        <a:rPr lang="en-US" sz="1200" dirty="0">
                          <a:effectLst/>
                        </a:rPr>
                        <a:t> if an agent is successfully manipulated.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• Per‑agent identity isolation (Agent ID)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Permission scoping via Graph / APIs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CA‑enforced token restrictions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⚠️ </a:t>
                      </a:r>
                      <a:r>
                        <a:rPr lang="en-US" sz="1200" b="1" dirty="0">
                          <a:effectLst/>
                        </a:rPr>
                        <a:t>Partial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Identity limits </a:t>
                      </a:r>
                      <a:r>
                        <a:rPr lang="en-US" sz="1200" i="1" dirty="0">
                          <a:effectLst/>
                        </a:rPr>
                        <a:t>impact</a:t>
                      </a:r>
                      <a:r>
                        <a:rPr lang="en-US" sz="1200" dirty="0">
                          <a:effectLst/>
                        </a:rPr>
                        <a:t>, not </a:t>
                      </a:r>
                      <a:r>
                        <a:rPr lang="en-US" sz="1200" i="1" dirty="0">
                          <a:effectLst/>
                        </a:rPr>
                        <a:t>entry</a:t>
                      </a:r>
                      <a:r>
                        <a:rPr lang="en-US" sz="1200" dirty="0">
                          <a:effectLst/>
                        </a:rPr>
                        <a:t>. Prompt injection must be handled at app / model layer.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8077"/>
                  </a:ext>
                </a:extLst>
              </a:tr>
              <a:tr h="5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2. Tool Misuse / Over‑permissioned Agents</a:t>
                      </a:r>
                      <a:endParaRPr lang="en-US" sz="1200" dirty="0">
                        <a:effectLst/>
                      </a:endParaRP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Strong mitigation by enforcing </a:t>
                      </a:r>
                      <a:r>
                        <a:rPr lang="en-US" sz="1200" b="1" dirty="0">
                          <a:effectLst/>
                        </a:rPr>
                        <a:t>least privilege at identity level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• Agent‑specific identities (no shared app IDs)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• OAuth scopes / app roles per Agent ID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• Ability to disable or block Agent ID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✅ </a:t>
                      </a:r>
                      <a:r>
                        <a:rPr lang="en-US" sz="1200" b="1" dirty="0">
                          <a:effectLst/>
                        </a:rPr>
                        <a:t>Strong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One of the best‑covered threats by Agent ID.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03545"/>
                  </a:ext>
                </a:extLst>
              </a:tr>
              <a:tr h="5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3. Unauthorized Delegation / Acting as the Wrong User</a:t>
                      </a:r>
                      <a:endParaRPr lang="en-US" sz="1200">
                        <a:effectLst/>
                      </a:endParaRP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Prevents silent impersonation; enables </a:t>
                      </a:r>
                      <a:r>
                        <a:rPr lang="en-US" sz="1200" b="1" dirty="0">
                          <a:effectLst/>
                        </a:rPr>
                        <a:t>explicit, auditable delegation</a:t>
                      </a:r>
                      <a:r>
                        <a:rPr lang="en-US" sz="1200" dirty="0">
                          <a:effectLst/>
                        </a:rPr>
                        <a:t> only via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agentUser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agentUser</a:t>
                      </a:r>
                      <a:r>
                        <a:rPr lang="en-US" sz="1200" dirty="0">
                          <a:effectLst/>
                        </a:rPr>
                        <a:t> object as explicit delegate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CA evaluated for </a:t>
                      </a:r>
                      <a:r>
                        <a:rPr lang="en-US" sz="1200" b="1" dirty="0">
                          <a:effectLst/>
                        </a:rPr>
                        <a:t>agent + delegate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Graph permissions enforced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✅ </a:t>
                      </a:r>
                      <a:r>
                        <a:rPr lang="en-US" sz="1200" b="1">
                          <a:effectLst/>
                        </a:rPr>
                        <a:t>Strong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Direct mitigation of unauthorized “Act‑As” behavior.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402037"/>
                  </a:ext>
                </a:extLst>
              </a:tr>
              <a:tr h="5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4. Excessive Agent Autonomy</a:t>
                      </a:r>
                      <a:endParaRPr lang="en-US" sz="1200">
                        <a:effectLst/>
                      </a:endParaRP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Limits what an agent </a:t>
                      </a:r>
                      <a:r>
                        <a:rPr lang="en-US" sz="1200" i="1" dirty="0">
                          <a:effectLst/>
                        </a:rPr>
                        <a:t>can do</a:t>
                      </a:r>
                      <a:r>
                        <a:rPr lang="en-US" sz="1200" dirty="0">
                          <a:effectLst/>
                        </a:rPr>
                        <a:t>, not </a:t>
                      </a:r>
                      <a:r>
                        <a:rPr lang="en-US" sz="1200" i="1" dirty="0">
                          <a:effectLst/>
                        </a:rPr>
                        <a:t>how often</a:t>
                      </a:r>
                      <a:r>
                        <a:rPr lang="en-US" sz="1200" dirty="0">
                          <a:effectLst/>
                        </a:rPr>
                        <a:t> it does it.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• Token lifetime enforcement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CA session restrictions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Ability to revoke tokens by disabling Agent ID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⚠️ </a:t>
                      </a:r>
                      <a:r>
                        <a:rPr lang="en-US" sz="1200" b="1">
                          <a:effectLst/>
                        </a:rPr>
                        <a:t>Partial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Autonomy control is mainly an application orchestration concern.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72176"/>
                  </a:ext>
                </a:extLst>
              </a:tr>
              <a:tr h="5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5. Data Exfiltration via APIs</a:t>
                      </a:r>
                      <a:endParaRPr lang="en-US" sz="1200">
                        <a:effectLst/>
                      </a:endParaRP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Reduces reachable data surfaces and enables </a:t>
                      </a:r>
                      <a:r>
                        <a:rPr lang="en-US" sz="1200" b="1" dirty="0">
                          <a:effectLst/>
                        </a:rPr>
                        <a:t>network‑based blocking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• CA Named Locations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Resource‑specific access tokens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Agent‑scoped API permissions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✅ </a:t>
                      </a:r>
                      <a:r>
                        <a:rPr lang="en-US" sz="1200" b="1">
                          <a:effectLst/>
                        </a:rPr>
                        <a:t>Moderate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Effective for </a:t>
                      </a:r>
                      <a:r>
                        <a:rPr lang="en-US" sz="1200" i="1">
                          <a:effectLst/>
                        </a:rPr>
                        <a:t>API‑based</a:t>
                      </a:r>
                      <a:r>
                        <a:rPr lang="en-US" sz="1200">
                          <a:effectLst/>
                        </a:rPr>
                        <a:t> exfiltration, not model responses.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137380"/>
                  </a:ext>
                </a:extLst>
              </a:tr>
              <a:tr h="5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6. Cross‑Agent Lateral Movement</a:t>
                      </a:r>
                      <a:endParaRPr lang="en-US" sz="1200">
                        <a:effectLst/>
                      </a:endParaRP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Strongly prevents lateral movement by </a:t>
                      </a:r>
                      <a:r>
                        <a:rPr lang="en-US" sz="1200" b="1" dirty="0">
                          <a:effectLst/>
                        </a:rPr>
                        <a:t>default isolation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• One Agent ID per copilot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No shared credentials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Independent CA targeting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✅ </a:t>
                      </a:r>
                      <a:r>
                        <a:rPr lang="en-US" sz="1200" b="1">
                          <a:effectLst/>
                        </a:rPr>
                        <a:t>Strong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Identity isolation is the primary defense.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522750"/>
                  </a:ext>
                </a:extLst>
              </a:tr>
              <a:tr h="5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7. Credential Theft / Token Replay</a:t>
                      </a:r>
                      <a:endParaRPr lang="en-US" sz="1200">
                        <a:effectLst/>
                      </a:endParaRP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Mitigates long‑lived or reusable credentials.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• Short‑lived client‑credentials tokens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CA evaluation at token issuance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Sign‑in logs for agents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✅ </a:t>
                      </a:r>
                      <a:r>
                        <a:rPr lang="en-US" sz="1200" b="1" dirty="0">
                          <a:effectLst/>
                        </a:rPr>
                        <a:t>Strong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Comparable to mature workload identity security.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840144"/>
                  </a:ext>
                </a:extLst>
              </a:tr>
              <a:tr h="5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8. Agent Supply‑Chain Attacks</a:t>
                      </a:r>
                      <a:r>
                        <a:rPr lang="en-US" sz="1200" dirty="0">
                          <a:effectLst/>
                        </a:rPr>
                        <a:t> (malicious plugins)</a:t>
                      </a: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Does not detect malicious logic</a:t>
                      </a:r>
                      <a:r>
                        <a:rPr lang="en-US" sz="1200">
                          <a:effectLst/>
                        </a:rPr>
                        <a:t>, but prevents it from inheriting broad trust implicitly.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• No automatic trust between agents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Explicit consent required for permissions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⚠️ </a:t>
                      </a:r>
                      <a:r>
                        <a:rPr lang="en-US" sz="1200" b="1" dirty="0">
                          <a:effectLst/>
                        </a:rPr>
                        <a:t>Partial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Supply‑chain validation is outside identity scope.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45261"/>
                  </a:ext>
                </a:extLst>
              </a:tr>
              <a:tr h="5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9. Insufficient Agent Accountability / Logging Gaps</a:t>
                      </a:r>
                      <a:endParaRPr lang="en-US" sz="1200">
                        <a:effectLst/>
                      </a:endParaRP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Strongly improves attribution and auditability.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• Agent‑specific sign‑in logs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CA + Entra audit logs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• Distinct principal per agent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✅ </a:t>
                      </a:r>
                      <a:r>
                        <a:rPr lang="en-US" sz="1200" b="1" dirty="0">
                          <a:effectLst/>
                        </a:rPr>
                        <a:t>Strong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Major improvement over shared app identities.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773440"/>
                  </a:ext>
                </a:extLst>
              </a:tr>
              <a:tr h="5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10. Human Trust Abuse</a:t>
                      </a:r>
                      <a:r>
                        <a:rPr lang="en-US" sz="1200">
                          <a:effectLst/>
                        </a:rPr>
                        <a:t> (</a:t>
                      </a:r>
                    </a:p>
                  </a:txBody>
                  <a:tcPr marL="23778" marR="23778" marT="11889" marB="1188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No direct mitigation</a:t>
                      </a:r>
                      <a:r>
                        <a:rPr lang="en-US" sz="1200">
                          <a:effectLst/>
                        </a:rPr>
                        <a:t>. Identity does not influence user trust decisions.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• None (identity layer only)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❌ </a:t>
                      </a:r>
                      <a:r>
                        <a:rPr lang="en-US" sz="1200" b="1" dirty="0">
                          <a:effectLst/>
                        </a:rPr>
                        <a:t>Not mitigated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This is a UX, policy, and training problem.</a:t>
                      </a:r>
                    </a:p>
                  </a:txBody>
                  <a:tcPr marL="23778" marR="23778" marT="11889" marB="118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467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72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19DA-3BDA-B280-416A-5B9FB02A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E5C46-B7DA-3152-4003-4799F93E9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5157787" cy="36845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Entra objects</a:t>
            </a:r>
          </a:p>
          <a:p>
            <a:pPr lvl="1"/>
            <a:r>
              <a:rPr lang="en-US" dirty="0" err="1"/>
              <a:t>agentIdentityBlueprint</a:t>
            </a:r>
            <a:endParaRPr lang="en-US" dirty="0"/>
          </a:p>
          <a:p>
            <a:pPr lvl="1"/>
            <a:r>
              <a:rPr lang="en-US" dirty="0" err="1"/>
              <a:t>agentIdentity</a:t>
            </a:r>
            <a:endParaRPr lang="en-US" dirty="0"/>
          </a:p>
          <a:p>
            <a:pPr lvl="1"/>
            <a:r>
              <a:rPr lang="en-US" dirty="0" err="1"/>
              <a:t>agentUser</a:t>
            </a:r>
            <a:endParaRPr lang="en-US" dirty="0"/>
          </a:p>
          <a:p>
            <a:r>
              <a:rPr lang="en-US" dirty="0"/>
              <a:t>OAuth2 flows</a:t>
            </a:r>
          </a:p>
          <a:p>
            <a:pPr lvl="1"/>
            <a:r>
              <a:rPr lang="en-US" dirty="0"/>
              <a:t>New parameters on Client Creds</a:t>
            </a:r>
          </a:p>
          <a:p>
            <a:pPr lvl="1"/>
            <a:r>
              <a:rPr lang="en-US" dirty="0"/>
              <a:t>New token claim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27DA5-8F61-2085-AF4D-2A8A7417E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0688"/>
            <a:ext cx="5183188" cy="36845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Conditional Access</a:t>
            </a:r>
          </a:p>
          <a:p>
            <a:pPr lvl="1"/>
            <a:r>
              <a:rPr lang="en-US" dirty="0"/>
              <a:t>Target specific agents or collections of agents</a:t>
            </a:r>
          </a:p>
          <a:p>
            <a:pPr lvl="1"/>
            <a:r>
              <a:rPr lang="en-US" dirty="0"/>
              <a:t>Use agent security attributes</a:t>
            </a:r>
          </a:p>
          <a:p>
            <a:pPr lvl="1"/>
            <a:r>
              <a:rPr lang="en-US" dirty="0"/>
              <a:t>Non-human interactions</a:t>
            </a:r>
          </a:p>
          <a:p>
            <a:r>
              <a:rPr lang="en-US" dirty="0"/>
              <a:t>Portals</a:t>
            </a:r>
          </a:p>
          <a:p>
            <a:pPr lvl="1"/>
            <a:r>
              <a:rPr lang="en-US" dirty="0"/>
              <a:t>Entra</a:t>
            </a:r>
          </a:p>
          <a:p>
            <a:pPr lvl="1"/>
            <a:r>
              <a:rPr lang="en-US" dirty="0"/>
              <a:t>M365 Admin</a:t>
            </a:r>
          </a:p>
          <a:p>
            <a:r>
              <a:rPr lang="en-US" dirty="0"/>
              <a:t>APIs/SDKs</a:t>
            </a:r>
          </a:p>
          <a:p>
            <a:pPr lvl="1"/>
            <a:r>
              <a:rPr lang="en-US" dirty="0"/>
              <a:t>MS Graph</a:t>
            </a:r>
          </a:p>
          <a:p>
            <a:pPr lvl="1"/>
            <a:r>
              <a:rPr lang="en-US" dirty="0"/>
              <a:t>Agent365 SDK/CLI</a:t>
            </a:r>
          </a:p>
          <a:p>
            <a:pPr lvl="1"/>
            <a:r>
              <a:rPr lang="en-US" dirty="0"/>
              <a:t>Entra SDK for Agent 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21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64BB8-7AF3-124B-7B3C-535CB262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agentIdentityBlueprint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D39E5-7A3E-2F87-6473-7D72245FC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Extension of </a:t>
            </a:r>
            <a:r>
              <a:rPr lang="en-US" i="1" dirty="0"/>
              <a:t>Application</a:t>
            </a:r>
            <a:r>
              <a:rPr lang="en-US" dirty="0"/>
              <a:t> and </a:t>
            </a:r>
            <a:r>
              <a:rPr lang="en-US" i="1" dirty="0"/>
              <a:t>Service Principal </a:t>
            </a:r>
            <a:r>
              <a:rPr lang="en-US" dirty="0"/>
              <a:t>objects:</a:t>
            </a:r>
          </a:p>
          <a:p>
            <a:pPr lvl="1"/>
            <a:r>
              <a:rPr lang="en-US" dirty="0" err="1"/>
              <a:t>inheritablePermissions</a:t>
            </a:r>
            <a:r>
              <a:rPr lang="en-US" dirty="0"/>
              <a:t>/</a:t>
            </a:r>
            <a:r>
              <a:rPr lang="en-US" dirty="0" err="1"/>
              <a:t>inheritableScopes</a:t>
            </a:r>
            <a:endParaRPr lang="en-US" dirty="0"/>
          </a:p>
          <a:p>
            <a:pPr lvl="1"/>
            <a:r>
              <a:rPr lang="en-US" dirty="0"/>
              <a:t>sponsors/owners</a:t>
            </a:r>
          </a:p>
          <a:p>
            <a:r>
              <a:rPr lang="en-US" dirty="0"/>
              <a:t>Container of permission definitions and security attributes</a:t>
            </a:r>
          </a:p>
          <a:p>
            <a:r>
              <a:rPr lang="en-US" dirty="0"/>
              <a:t>Provisioned automatically: Foundry for each project, </a:t>
            </a:r>
            <a:r>
              <a:rPr lang="en-US" dirty="0" err="1"/>
              <a:t>CopilotStudio</a:t>
            </a:r>
            <a:r>
              <a:rPr lang="en-US" dirty="0"/>
              <a:t> - one for the tenant</a:t>
            </a:r>
          </a:p>
          <a:p>
            <a:r>
              <a:rPr lang="en-US" dirty="0"/>
              <a:t>…or, via Agent365 SDK/CLI or MS Graph</a:t>
            </a:r>
          </a:p>
          <a:p>
            <a:r>
              <a:rPr lang="en-US" dirty="0"/>
              <a:t>Provisions agent instances with identities and runtime privileges</a:t>
            </a:r>
          </a:p>
          <a:p>
            <a:endParaRPr lang="en-US" dirty="0"/>
          </a:p>
          <a:p>
            <a:r>
              <a:rPr lang="en-US" dirty="0"/>
              <a:t>Show shape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99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4A8B-ED1B-513F-9D52-A30563B80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agentIdentity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006A2-CF8B-5719-04E9-275B1F1BF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Extension of </a:t>
            </a:r>
            <a:r>
              <a:rPr lang="en-US" i="1" dirty="0" err="1"/>
              <a:t>ServicePrincipal</a:t>
            </a:r>
            <a:r>
              <a:rPr lang="en-US" dirty="0"/>
              <a:t> – similar to multi-tenant apps</a:t>
            </a:r>
          </a:p>
          <a:p>
            <a:r>
              <a:rPr lang="en-US" dirty="0"/>
              <a:t>A blueprint may define any number of </a:t>
            </a:r>
            <a:r>
              <a:rPr lang="en-US" dirty="0" err="1"/>
              <a:t>agentIdenties</a:t>
            </a:r>
            <a:endParaRPr lang="en-US" dirty="0"/>
          </a:p>
          <a:p>
            <a:r>
              <a:rPr lang="en-US" dirty="0"/>
              <a:t>Blueprint defines max permissions envelope</a:t>
            </a:r>
          </a:p>
          <a:p>
            <a:r>
              <a:rPr lang="en-US" dirty="0"/>
              <a:t>Credentials managed by blueprint</a:t>
            </a:r>
          </a:p>
          <a:p>
            <a:endParaRPr lang="en-US" dirty="0"/>
          </a:p>
          <a:p>
            <a:r>
              <a:rPr lang="en-US" dirty="0"/>
              <a:t>Analogy: </a:t>
            </a:r>
          </a:p>
          <a:p>
            <a:pPr lvl="1"/>
            <a:r>
              <a:rPr lang="en-US" dirty="0"/>
              <a:t>Blueprint – host</a:t>
            </a:r>
          </a:p>
          <a:p>
            <a:pPr lvl="1"/>
            <a:r>
              <a:rPr lang="en-US" dirty="0"/>
              <a:t>Entra         – receptionist</a:t>
            </a:r>
          </a:p>
          <a:p>
            <a:pPr lvl="1"/>
            <a:r>
              <a:rPr lang="en-US" dirty="0" err="1"/>
              <a:t>AgentId</a:t>
            </a:r>
            <a:r>
              <a:rPr lang="en-US" dirty="0"/>
              <a:t>    - visitor</a:t>
            </a:r>
          </a:p>
        </p:txBody>
      </p:sp>
    </p:spTree>
    <p:extLst>
      <p:ext uri="{BB962C8B-B14F-4D97-AF65-F5344CB8AC3E}">
        <p14:creationId xmlns:p14="http://schemas.microsoft.com/office/powerpoint/2010/main" val="394232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7FED-76A2-1964-E9DC-BCF60626D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agentUser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27195-DE6A-C25F-C699-789C1DBAF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Extension of </a:t>
            </a:r>
            <a:r>
              <a:rPr lang="en-US" i="1" dirty="0"/>
              <a:t>user</a:t>
            </a:r>
            <a:r>
              <a:rPr lang="en-US" dirty="0"/>
              <a:t> object</a:t>
            </a:r>
          </a:p>
          <a:p>
            <a:r>
              <a:rPr lang="en-US" dirty="0"/>
              <a:t>Credentialled by blueprint and </a:t>
            </a:r>
            <a:r>
              <a:rPr lang="en-US" dirty="0" err="1"/>
              <a:t>agentIdentity</a:t>
            </a:r>
            <a:endParaRPr lang="en-US" dirty="0"/>
          </a:p>
          <a:p>
            <a:r>
              <a:rPr lang="en-US" dirty="0"/>
              <a:t>Use for scenarios where agent needs to be like a human user, e.g. mailbox delegate, i.e. does not require human presence</a:t>
            </a:r>
          </a:p>
          <a:p>
            <a:r>
              <a:rPr lang="en-US" dirty="0"/>
              <a:t>Serves different scenarios than OBO (requires a human)</a:t>
            </a:r>
          </a:p>
          <a:p>
            <a:r>
              <a:rPr lang="en-US" dirty="0"/>
              <a:t>Took four conversation turns to correct Copilot’s hallucinations!</a:t>
            </a:r>
          </a:p>
          <a:p>
            <a:pPr lvl="1"/>
            <a:r>
              <a:rPr lang="en-US" dirty="0"/>
              <a:t>“There is no object called </a:t>
            </a:r>
            <a:r>
              <a:rPr lang="en-US" dirty="0" err="1"/>
              <a:t>agentUser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agentUser</a:t>
            </a:r>
            <a:r>
              <a:rPr lang="en-US" dirty="0"/>
              <a:t> does not use tokens”</a:t>
            </a:r>
          </a:p>
          <a:p>
            <a:pPr lvl="1"/>
            <a:endParaRPr lang="en-US" dirty="0"/>
          </a:p>
          <a:p>
            <a:r>
              <a:rPr lang="en-US" dirty="0"/>
              <a:t>Analog: </a:t>
            </a:r>
            <a:r>
              <a:rPr lang="en-US" dirty="0" err="1"/>
              <a:t>AgentIdentity</a:t>
            </a:r>
            <a:r>
              <a:rPr lang="en-US" dirty="0"/>
              <a:t> ‘puppet’</a:t>
            </a:r>
          </a:p>
        </p:txBody>
      </p:sp>
    </p:spTree>
    <p:extLst>
      <p:ext uri="{BB962C8B-B14F-4D97-AF65-F5344CB8AC3E}">
        <p14:creationId xmlns:p14="http://schemas.microsoft.com/office/powerpoint/2010/main" val="708443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4E24B-B937-3FFE-CA93-3AB9ABC5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400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Entra Agent ID Scenarios</a:t>
            </a:r>
          </a:p>
        </p:txBody>
      </p:sp>
      <p:pic>
        <p:nvPicPr>
          <p:cNvPr id="4" name="Picture 3" descr="Diagram showing the illustration of oauth flow for agents.">
            <a:extLst>
              <a:ext uri="{FF2B5EF4-FFF2-40B4-BE49-F238E27FC236}">
                <a16:creationId xmlns:a16="http://schemas.microsoft.com/office/drawing/2014/main" id="{BEEF2E05-C1CD-1AF5-ED78-0B08F76C1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00" y="2042321"/>
            <a:ext cx="8178799" cy="366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60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6C9A2-EB4B-C583-8B2F-86613087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OBO agent</a:t>
            </a:r>
          </a:p>
        </p:txBody>
      </p:sp>
      <p:pic>
        <p:nvPicPr>
          <p:cNvPr id="4" name="Picture 3" descr="Diagram showing the illustration of on-behalf-of token acquisition flow for agents.">
            <a:extLst>
              <a:ext uri="{FF2B5EF4-FFF2-40B4-BE49-F238E27FC236}">
                <a16:creationId xmlns:a16="http://schemas.microsoft.com/office/drawing/2014/main" id="{37C3F210-1676-0040-CA92-13316FB1E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270119"/>
            <a:ext cx="10217525" cy="30183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72386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FD56-A474-E797-5819-CC9D1BF7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agent</a:t>
            </a:r>
          </a:p>
        </p:txBody>
      </p:sp>
      <p:pic>
        <p:nvPicPr>
          <p:cNvPr id="4" name="Picture 3" descr="Diagram showing the illustration of autonomous app token acquisition flow for agents.">
            <a:extLst>
              <a:ext uri="{FF2B5EF4-FFF2-40B4-BE49-F238E27FC236}">
                <a16:creationId xmlns:a16="http://schemas.microsoft.com/office/drawing/2014/main" id="{8CCA85BE-9891-C25D-CE12-399ADF6D6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92076"/>
            <a:ext cx="9356935" cy="31510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28253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F072-E257-03B0-F26E-41865BD8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agentUser</a:t>
            </a:r>
            <a:r>
              <a:rPr lang="en-US" dirty="0"/>
              <a:t> token acquisition</a:t>
            </a:r>
          </a:p>
        </p:txBody>
      </p:sp>
      <p:pic>
        <p:nvPicPr>
          <p:cNvPr id="4" name="Picture 3" descr="Diagram showing the illustration of agent's user account token acquisition flow for agents.">
            <a:extLst>
              <a:ext uri="{FF2B5EF4-FFF2-40B4-BE49-F238E27FC236}">
                <a16:creationId xmlns:a16="http://schemas.microsoft.com/office/drawing/2014/main" id="{C283191C-D256-8D12-CE03-B75CD557D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2" y="2252543"/>
            <a:ext cx="8395624" cy="28244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1046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586F-068F-3417-0DB6-67E46FBD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50E8A-3D4E-54BE-9658-FD1E610AA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Agent Identity Token Tester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419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85C4-491F-5413-0EA5-9DABD682F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BB983-34D6-6BF5-4556-54D23AD4C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  <a:hlinkClick r:id="rId2"/>
              </a:rPr>
              <a:t>https://github.com/microsoft/Agent365-samples</a:t>
            </a:r>
            <a:endParaRPr lang="en-US" dirty="0">
              <a:solidFill>
                <a:prstClr val="black"/>
              </a:solidFill>
            </a:endParaRPr>
          </a:p>
          <a:p>
            <a:r>
              <a:rPr lang="en-US" dirty="0">
                <a:solidFill>
                  <a:prstClr val="black"/>
                </a:solidFill>
                <a:hlinkClick r:id="rId3"/>
              </a:rPr>
              <a:t>https://github.com/microsoft/entra-agentid-samples</a:t>
            </a:r>
            <a:r>
              <a:rPr lang="en-US" dirty="0">
                <a:solidFill>
                  <a:prstClr val="black"/>
                </a:solidFill>
              </a:rPr>
              <a:t> </a:t>
            </a:r>
          </a:p>
          <a:p>
            <a:r>
              <a:rPr lang="en-US" dirty="0">
                <a:hlinkClick r:id="rId4"/>
              </a:rPr>
              <a:t>https://github.com/mrochon/AgentIDSamples</a:t>
            </a:r>
            <a:r>
              <a:rPr lang="en-US" dirty="0"/>
              <a:t> shows:</a:t>
            </a:r>
          </a:p>
          <a:p>
            <a:pPr lvl="1"/>
            <a:r>
              <a:rPr lang="en-US" dirty="0"/>
              <a:t>Graph creating blueprints/</a:t>
            </a:r>
            <a:r>
              <a:rPr lang="en-US" dirty="0" err="1"/>
              <a:t>agentIds</a:t>
            </a:r>
            <a:endParaRPr lang="en-US" dirty="0"/>
          </a:p>
          <a:p>
            <a:pPr lvl="1"/>
            <a:r>
              <a:rPr lang="en-US" dirty="0"/>
              <a:t>Host executing token acquisitions</a:t>
            </a:r>
          </a:p>
        </p:txBody>
      </p:sp>
    </p:spTree>
    <p:extLst>
      <p:ext uri="{BB962C8B-B14F-4D97-AF65-F5344CB8AC3E}">
        <p14:creationId xmlns:p14="http://schemas.microsoft.com/office/powerpoint/2010/main" val="145540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830</Words>
  <Application>Microsoft Office PowerPoint</Application>
  <PresentationFormat>Widescreen</PresentationFormat>
  <Paragraphs>108</Paragraphs>
  <Slides>12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Short intro to Entra Agent Id</vt:lpstr>
      <vt:lpstr>PowerPoint Presentation</vt:lpstr>
      <vt:lpstr>Artifacts</vt:lpstr>
      <vt:lpstr>agentIdentityBlueprint</vt:lpstr>
      <vt:lpstr>agentIdentity</vt:lpstr>
      <vt:lpstr>agentUser</vt:lpstr>
      <vt:lpstr>Entra Agent ID Scenarios</vt:lpstr>
      <vt:lpstr>OBO agent</vt:lpstr>
      <vt:lpstr>Autonomous agent</vt:lpstr>
      <vt:lpstr>agentUser token acquisition</vt:lpstr>
      <vt:lpstr>Demo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Rochon</dc:creator>
  <cp:lastModifiedBy>Wael Kdouh</cp:lastModifiedBy>
  <cp:revision>2</cp:revision>
  <dcterms:created xsi:type="dcterms:W3CDTF">2026-05-12T16:04:52Z</dcterms:created>
  <dcterms:modified xsi:type="dcterms:W3CDTF">2026-10-06T18:42:43Z</dcterms:modified>
</cp:coreProperties>
</file>